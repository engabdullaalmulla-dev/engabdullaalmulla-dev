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626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Multiple choice</c:v>
                  </c:pt>
                  <c:pt idx="1">
                    <c:v>Likert (1–5)</c:v>
                  </c:pt>
                  <c:pt idx="2">
                    <c:v>Open-ended</c:v>
                  </c:pt>
                  <c:pt idx="3">
                    <c:v>Multi-select</c:v>
                  </c:pt>
                  <c:pt idx="4">
                    <c:v>Ranking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626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626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in one line: I built a model, it finds 75% of positive cases, and the test set cannot tell me whether that is acceptable in a clinic. This presentation is about the instrument I designed to answer that question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missed cases out of eight. Statistically that is a respectable number. Clinically it is two women who were told they were fine. That gap is the whole motivation.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questions, and they map one to one onto the three objectives on the next slide. RQ2 is the one the modelling study genuinely cannot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to stress: the mapping is a published artefact, not something I reconstructed afterwards. Anyone can check that each objective is actually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Cross-sectional is the honest label — I am not tracking change over time, and I should not claim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purposive sampling limits generalisability. The defence is that the population is specialist and small, and that the objective is depth of judgement, not population prevalence.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Demographics first is a deliberate choice and worth defending: without them I can only report one pooled average, which would hide the disagreement between clinicians and analysts.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so few open-ended items: every free-text box costs response rate. Two is what I can justify, and both sit at the end so an abandonment there still leaves the closed items 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on. The double-ask is the single most defensible design decision in the instrument, and it is the one an examiner is most likely to probe.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no data has been collected yet. The deliverable here is the instrument and its justification, not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auditable point matters: publishing the consent text means a reader can check what respondents actually agreed to, rather than taking my word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claims proportionate to the design. Descriptive, not inferential — saying this before an examiner does is worth a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fourth limitation myself is the strongest move here — anchoring on a single figure is the most obvious attack on the instrument, so I should raise it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contribution: the instrument, its justification, and the fact that it is published in a form someone else could pick up and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9935" y="132588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88575" y="1874520"/>
            <a:ext cx="3108960" cy="310896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2423160"/>
            <a:ext cx="2011680" cy="201168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and Artificial Intelligence  ·  Research Methods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8458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Acceptability of</a:t>
            </a:r>
            <a:endParaRPr lang="en-US" sz="3600" dirty="0"/>
          </a:p>
          <a:p>
            <a:pPr indent="0" marL="0">
              <a:lnSpc>
                <a:spcPts val="43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Cervical Cancer</a:t>
            </a:r>
            <a:endParaRPr lang="en-US" sz="3600" dirty="0"/>
          </a:p>
          <a:p>
            <a:pPr indent="0" marL="0">
              <a:lnSpc>
                <a:spcPts val="43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Prediction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3434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survey instrument to test whether a model that finds 75% of positive cases is good enough for a screening pathway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5440680"/>
            <a:ext cx="822960" cy="320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5623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 Almulla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Aviation University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set answers the wrong question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20240"/>
            <a:ext cx="6309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modelling study compared three Keras architectures — a baseline MLP, a deeper MLP with dropout, and an autoencoder-enhanced classifier — on the UCI Cervical Cancer Risk Factors dataset.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0.50 threshold the selected model reaches 75% recall — six of the eight positive cases in the test set.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 and AUC-ROC describe how the model behaves. None of them say whether a clinician would act on it.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5720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Whether 75% recall is good enough is a question about clinical judgement, not about the test set. It has to be asked of people.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35240" y="1920240"/>
            <a:ext cx="3870655" cy="3474720"/>
          </a:xfrm>
          <a:prstGeom prst="roundRect">
            <a:avLst>
              <a:gd name="adj" fmla="val 2368"/>
            </a:avLst>
          </a:prstGeom>
          <a:solidFill>
            <a:srgbClr val="0732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35240" y="2240280"/>
            <a:ext cx="3870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68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3429000"/>
            <a:ext cx="3870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at a 0.50 threshold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49640" y="3931920"/>
            <a:ext cx="2041855" cy="182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35240" y="4114800"/>
            <a:ext cx="3870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8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4663440"/>
            <a:ext cx="3870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cases found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missed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study sets out to establish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measure how healthcare and health-data professionals judge automated risk prediction in cervical screening — and what it would take for them to trust 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3127248"/>
            <a:ext cx="10820095" cy="960120"/>
          </a:xfrm>
          <a:prstGeom prst="roundRect">
            <a:avLst>
              <a:gd name="adj" fmla="val 8571"/>
            </a:avLst>
          </a:prstGeom>
          <a:solidFill>
            <a:srgbClr val="F4F7F8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334670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8408" y="33467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3467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273552"/>
            <a:ext cx="9357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exposure do these professionals already have to automated risk scoring in their day-to-day work?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4270248"/>
            <a:ext cx="10820095" cy="960120"/>
          </a:xfrm>
          <a:prstGeom prst="roundRect">
            <a:avLst>
              <a:gd name="adj" fmla="val 8571"/>
            </a:avLst>
          </a:prstGeom>
          <a:solidFill>
            <a:srgbClr val="F4F7F8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" y="448970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78408" y="44897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78408" y="44897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416552"/>
            <a:ext cx="9357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they weigh a missed positive case against an unnecessary referral?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85800" y="5413248"/>
            <a:ext cx="10820095" cy="960120"/>
          </a:xfrm>
          <a:prstGeom prst="roundRect">
            <a:avLst>
              <a:gd name="adj" fmla="val 8571"/>
            </a:avLst>
          </a:prstGeom>
          <a:solidFill>
            <a:srgbClr val="F4F7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" y="563270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8408" y="56327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56327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559552"/>
            <a:ext cx="9357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or properties would a model need before they would act on its output?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objectives, each with its own items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93338" cy="3794760"/>
          </a:xfrm>
          <a:prstGeom prst="roundRect">
            <a:avLst>
              <a:gd name="adj" fmla="val 2425"/>
            </a:avLst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212848"/>
            <a:ext cx="713232" cy="7132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128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127248"/>
            <a:ext cx="2661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exposure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840480"/>
            <a:ext cx="26618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current exposure to, and use of, automated risk-prediction tools among healthcare and health-data professionals.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5074920"/>
            <a:ext cx="2661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Q5  Q12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9178" y="1828800"/>
            <a:ext cx="3393338" cy="3794760"/>
          </a:xfrm>
          <a:prstGeom prst="roundRect">
            <a:avLst>
              <a:gd name="adj" fmla="val 2425"/>
            </a:avLst>
          </a:prstGeom>
          <a:solidFill>
            <a:srgbClr val="F4F7F8"/>
          </a:solidFill>
          <a:ln/>
        </p:spPr>
      </p:sp>
      <p:sp>
        <p:nvSpPr>
          <p:cNvPr id="11" name="Shape 9"/>
          <p:cNvSpPr/>
          <p:nvPr/>
        </p:nvSpPr>
        <p:spPr>
          <a:xfrm>
            <a:off x="4764938" y="2212848"/>
            <a:ext cx="713232" cy="7132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64938" y="22128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64938" y="3127248"/>
            <a:ext cx="2661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and error tolerance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64938" y="3840480"/>
            <a:ext cx="26618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perceived trust in model-generated risk predictions, and the relative tolerance for false negatives versus false positives.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64938" y="5074920"/>
            <a:ext cx="2661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 Q7  Q8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12557" y="1828800"/>
            <a:ext cx="3393338" cy="3794760"/>
          </a:xfrm>
          <a:prstGeom prst="roundRect">
            <a:avLst>
              <a:gd name="adj" fmla="val 2425"/>
            </a:avLst>
          </a:prstGeom>
          <a:solidFill>
            <a:srgbClr val="F4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478317" y="2212848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78317" y="22128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78317" y="3127248"/>
            <a:ext cx="2661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factors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478317" y="3840480"/>
            <a:ext cx="26618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factors that would influence adoption of such a tool within a cervical screening pathway.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78317" y="5074920"/>
            <a:ext cx="2661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 Q10  Q11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199632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maps to exactly one objective, and the mapping is published in items.csv rather than left implicit.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50028" cy="178308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9848" y="2148840"/>
            <a:ext cx="44819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532888"/>
            <a:ext cx="44819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survey. A single administration capturing attitudes at one point in time, with no intervention and no follow-up.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5868" y="1874520"/>
            <a:ext cx="5250028" cy="178308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39916" y="2148840"/>
            <a:ext cx="44819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639916" y="2532888"/>
            <a:ext cx="44819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Predominantly quantitative — closed items producing ordinal and categorical data — with two open-ended items for qualitative context.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250028" cy="178308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69848" y="4251960"/>
            <a:ext cx="44819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4636008"/>
            <a:ext cx="44819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Self-administered online questionnaire, chosen for reach across professional groups and for anonymity on a sensitive judgement.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55868" y="3977640"/>
            <a:ext cx="5250028" cy="178308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39916" y="4251960"/>
            <a:ext cx="44819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of analysis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639916" y="4636008"/>
            <a:ext cx="44819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individual professional. Responses are compared across role, experience and organisation type.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and sampling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population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who would encounter a risk-prediction output in a screening pathway, either as clinicians acting on it or as analysts producing it.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captures six role categories, so responses can be split by professional group rather than pooled into a single average.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7764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3891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Non-probability purposive sampling, with the inclusion criterion being current work in healthcare or health-related data. Practical for a specialist population, and a stated limitation rather than a hidden 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86600" y="1828800"/>
            <a:ext cx="4419295" cy="3840480"/>
          </a:xfrm>
          <a:prstGeom prst="roundRect">
            <a:avLst>
              <a:gd name="adj" fmla="val 2143"/>
            </a:avLst>
          </a:prstGeom>
          <a:solidFill>
            <a:srgbClr val="F4F7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70648" y="2103120"/>
            <a:ext cx="3651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Primary professional role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98080" y="2711196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99832" y="2560320"/>
            <a:ext cx="3322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498080" y="3209544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99832" y="3058668"/>
            <a:ext cx="3322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or midwife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98080" y="3707892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99832" y="3557016"/>
            <a:ext cx="3322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laboratory scientist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98080" y="420624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99832" y="4055364"/>
            <a:ext cx="3322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scientist or analyst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498080" y="4704588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99832" y="4553712"/>
            <a:ext cx="3322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or academic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498080" y="5202936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99832" y="5052060"/>
            <a:ext cx="3322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items in four sections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978408"/>
          </a:xfrm>
          <a:prstGeom prst="roundRect">
            <a:avLst>
              <a:gd name="adj" fmla="val 8411"/>
            </a:avLst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9796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979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385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Respondent background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– Q3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956816"/>
            <a:ext cx="6065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years of experience, organisation type. Placed first so later answers can be compared across groups.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2880360"/>
            <a:ext cx="10820095" cy="978408"/>
          </a:xfrm>
          <a:prstGeom prst="roundRect">
            <a:avLst>
              <a:gd name="adj" fmla="val 8411"/>
            </a:avLst>
          </a:prstGeom>
          <a:solidFill>
            <a:srgbClr val="F4F7F8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095244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0952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0358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exposure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– Q5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054096"/>
            <a:ext cx="6065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use of automated risk scoring, and which specific tool types have been used in practice.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20095" cy="978408"/>
          </a:xfrm>
          <a:prstGeom prst="roundRect">
            <a:avLst>
              <a:gd name="adj" fmla="val 8411"/>
            </a:avLst>
          </a:prstGeom>
          <a:solidFill>
            <a:srgbClr val="F4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4192524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1925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1330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and error tolerance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– Q8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4151376"/>
            <a:ext cx="6065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 model-supported prioritisation, and the false negative versus false positive trade-off.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5074920"/>
            <a:ext cx="10820095" cy="978408"/>
          </a:xfrm>
          <a:prstGeom prst="roundRect">
            <a:avLst>
              <a:gd name="adj" fmla="val 8411"/>
            </a:avLst>
          </a:prstGeom>
          <a:solidFill>
            <a:srgbClr val="F4F7F8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" y="528980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52898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691640" y="52303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factors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– Q12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5248656"/>
            <a:ext cx="6065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have to be true before the tool is trusted, plus two open-ended items.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items take the form they do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+ Q8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76272"/>
            <a:ext cx="5806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trade-off is asked twice — once as a general attitude, once against a concrete performance figure. The gap between the two answers is itself a finding.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461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93592"/>
            <a:ext cx="5806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ranking, not a Likert battery. Asked separately, respondents agree with all five desirable properties; ranking is what separates them.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6634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+ Q12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010912"/>
            <a:ext cx="5806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Open-ended, to capture concerns the design did not anticipate and to surface real experience of automated decisions.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86600" y="1783080"/>
            <a:ext cx="4419295" cy="3886200"/>
          </a:xfrm>
          <a:prstGeom prst="roundRect">
            <a:avLst>
              <a:gd name="adj" fmla="val 2118"/>
            </a:avLst>
          </a:prstGeom>
          <a:solidFill>
            <a:srgbClr val="F4F7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2011680"/>
            <a:ext cx="3687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types across the instrument</a:t>
            </a:r>
            <a:endParaRPr lang="en-US" sz="13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287768" y="2377440"/>
          <a:ext cx="3962095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257800"/>
            <a:ext cx="3108960" cy="310896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5669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1440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missed case and an unnecessary referral are not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kind of error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asks whether a missed positive case is the more serious error as a matter of principle. Q8 puts a number on it and asks the same professional to judge 75% recall as a triage tool. Both answers are needed, because the principle and the number often disagree.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2286000"/>
            <a:ext cx="4556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response options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0" y="2724912"/>
            <a:ext cx="4556455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23760" y="2724912"/>
            <a:ext cx="4007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acceptable under any conditions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0" y="3410712"/>
            <a:ext cx="4556455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23760" y="3410712"/>
            <a:ext cx="4007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only alongside standard screening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4096512"/>
            <a:ext cx="4556455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0" y="4096512"/>
            <a:ext cx="4007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as a standalone triage step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4782312"/>
            <a:ext cx="4556455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23760" y="4782312"/>
            <a:ext cx="4007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4348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respondent who strongly agrees on Q7 but accepts 75% as a standalone step on Q8 is telling us something the Likert scale alone would have hidden.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393338" cy="3200400"/>
          </a:xfrm>
          <a:prstGeom prst="roundRect">
            <a:avLst>
              <a:gd name="adj" fmla="val 2571"/>
            </a:avLst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063240"/>
            <a:ext cx="2661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520440"/>
            <a:ext cx="2661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information and the consent statement are shown before the first item. Progression past that screen constitutes consent.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9178" y="1874520"/>
            <a:ext cx="3393338" cy="3200400"/>
          </a:xfrm>
          <a:prstGeom prst="roundRect">
            <a:avLst>
              <a:gd name="adj" fmla="val 2571"/>
            </a:avLst>
          </a:prstGeom>
          <a:solidFill>
            <a:srgbClr val="F4F7F8"/>
          </a:solidFill>
          <a:ln/>
        </p:spPr>
      </p:sp>
      <p:sp>
        <p:nvSpPr>
          <p:cNvPr id="10" name="Shape 8"/>
          <p:cNvSpPr/>
          <p:nvPr/>
        </p:nvSpPr>
        <p:spPr>
          <a:xfrm>
            <a:off x="4764938" y="22402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64938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764938" y="3063240"/>
            <a:ext cx="2661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64938" y="3520440"/>
            <a:ext cx="2661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Self-administered online via SurveyMonkey. No interviewer present, so no social-desirability pressure from a researcher in the room.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12557" y="1874520"/>
            <a:ext cx="3393338" cy="3200400"/>
          </a:xfrm>
          <a:prstGeom prst="roundRect">
            <a:avLst>
              <a:gd name="adj" fmla="val 2571"/>
            </a:avLst>
          </a:prstGeom>
          <a:solidFill>
            <a:srgbClr val="F4F7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478317" y="22402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8317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478317" y="3063240"/>
            <a:ext cx="2661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78317" y="3520440"/>
            <a:ext cx="2661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items export as coded categorical and ordinal data; the two free-text items are exported separately for thematic coding.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3492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instrument:  surveymonkey.com/r/CY6GZLB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199632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responses have been collected. The instrument is published as a design artefact and as the basis for a planned follow-up study.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considerations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04088" y="192938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52728" y="1801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Voluntary participation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783080"/>
            <a:ext cx="6751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incentive and no obligation. Participants may stop at any point.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4088" y="277063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52728" y="26426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624328"/>
            <a:ext cx="6751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personally identifiable information is collected at any stage of the instrument.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4088" y="361188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52728" y="34838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of withdrawal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465576"/>
            <a:ext cx="6751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may be withdrawn at any point before submission.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04088" y="445312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52728" y="4325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consent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306824"/>
            <a:ext cx="6751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participant information and consent text is published in consent.md, so what respondents were told is auditable.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4088" y="529437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52728" y="5166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data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5148072"/>
            <a:ext cx="6751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modelling study it accompanies used a publicly available secondary dataset, with no patient contact.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objective would be analysed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20095" cy="1143000"/>
          </a:xfrm>
          <a:prstGeom prst="roundRect">
            <a:avLst>
              <a:gd name="adj" fmla="val 7200"/>
            </a:avLst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21031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96696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993392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Frequencies and cross-tabulation of Q4 and Q5 by professional role, to describe existing exposure rather than to test a hypothesis.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154680"/>
            <a:ext cx="10820095" cy="1143000"/>
          </a:xfrm>
          <a:prstGeom prst="roundRect">
            <a:avLst>
              <a:gd name="adj" fmla="val 7200"/>
            </a:avLst>
          </a:prstGeom>
          <a:solidFill>
            <a:srgbClr val="F4F7F8"/>
          </a:solidFill>
          <a:ln/>
        </p:spPr>
      </p:sp>
      <p:sp>
        <p:nvSpPr>
          <p:cNvPr id="9" name="Shape 7"/>
          <p:cNvSpPr/>
          <p:nvPr/>
        </p:nvSpPr>
        <p:spPr>
          <a:xfrm>
            <a:off x="996696" y="34290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319272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Medians and distributions for the Likert items Q6 and Q7; Q8 compared against Q7 within respondent to measure how far the stated principle survives a concrete number.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480560"/>
            <a:ext cx="10820095" cy="1143000"/>
          </a:xfrm>
          <a:prstGeom prst="roundRect">
            <a:avLst>
              <a:gd name="adj" fmla="val 7200"/>
            </a:avLst>
          </a:prstGeom>
          <a:solidFill>
            <a:srgbClr val="F4F7F8"/>
          </a:solidFill>
          <a:ln/>
        </p:spPr>
      </p:sp>
      <p:sp>
        <p:nvSpPr>
          <p:cNvPr id="13" name="Shape 11"/>
          <p:cNvSpPr/>
          <p:nvPr/>
        </p:nvSpPr>
        <p:spPr>
          <a:xfrm>
            <a:off x="996696" y="475488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645152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rank position for each of the five factors in Q9, with Q10 read alongside it; Q11 and Q12 coded thematically and used to interpret the ranking.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943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across professional groups are descriptive — purposive sampling does not support inferential claims.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design cannot 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50028" cy="178308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" y="216712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72184" y="2075688"/>
            <a:ext cx="4061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Self-report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651760"/>
            <a:ext cx="44819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attitudes to a hypothetical tool are not the same as behaviour when a real prediction appears in a real pathway.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5868" y="1874520"/>
            <a:ext cx="5250028" cy="178308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</p:spPr>
      </p:sp>
      <p:sp>
        <p:nvSpPr>
          <p:cNvPr id="9" name="Shape 7"/>
          <p:cNvSpPr/>
          <p:nvPr/>
        </p:nvSpPr>
        <p:spPr>
          <a:xfrm>
            <a:off x="6639916" y="2167128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2252" y="2075688"/>
            <a:ext cx="4061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Purposive sampling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639916" y="2651760"/>
            <a:ext cx="44819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will not be representative, so findings describe the respondents rather than the profession.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5250028" cy="178308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" y="427024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72184" y="4178808"/>
            <a:ext cx="4061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time point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" y="4754880"/>
            <a:ext cx="44819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cross-sectional design captures attitudes as they are now, and cannot show how exposure changes them.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5868" y="3977640"/>
            <a:ext cx="5250028" cy="1783080"/>
          </a:xfrm>
          <a:prstGeom prst="roundRect">
            <a:avLst>
              <a:gd name="adj" fmla="val 4615"/>
            </a:avLst>
          </a:prstGeom>
          <a:solidFill>
            <a:srgbClr val="F4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39916" y="427024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42252" y="4178808"/>
            <a:ext cx="4061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performance figure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639916" y="4754880"/>
            <a:ext cx="44819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anchors on 75% recall. A different figure would likely shift the acceptability judgement, which this design does not vary.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02775" y="2423160"/>
            <a:ext cx="3566160" cy="35661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51415" y="2971800"/>
            <a:ext cx="2468880" cy="246888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54335" y="3474720"/>
            <a:ext cx="1463040" cy="1463040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6858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0515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instrument is the contribution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04088" y="2404872"/>
            <a:ext cx="155448" cy="1554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28600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finds 75% of positive cases cannot be judged acceptable or unacceptable from its own test set.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04088" y="3273552"/>
            <a:ext cx="155448" cy="1554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1546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items, three objectives, and a published mapping between them — so coverage can be checked, not asserted.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04088" y="4142232"/>
            <a:ext cx="155448" cy="1554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0233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false-negative trade-off is asked twice, in principle and against a number, because the two answers diverge.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04088" y="5010912"/>
            <a:ext cx="155448" cy="1554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89204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with its consent text and objective mapping as a reusable design artefact.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806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Acceptability of Automated Cervical Cancer Risk Prediction</dc:title>
  <dc:subject>PptxGenJS Presentation</dc:subject>
  <dc:creator>Abdulla Almulla</dc:creator>
  <cp:lastModifiedBy>Abdulla Almulla</cp:lastModifiedBy>
  <cp:revision>1</cp:revision>
  <dcterms:created xsi:type="dcterms:W3CDTF">2026-09-17T05:11:24Z</dcterms:created>
  <dcterms:modified xsi:type="dcterms:W3CDTF">2026-09-17T05:11:24Z</dcterms:modified>
</cp:coreProperties>
</file>